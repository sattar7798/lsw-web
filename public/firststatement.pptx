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DF84"/>
    <a:srgbClr val="F5CF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228" y="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DABCAC30-2E51-4C45-8867-A17818EC0A1D}" type="datetimeFigureOut">
              <a:rPr lang="fa-IR" smtClean="0"/>
              <a:t>27/08/1447</a:t>
            </a:fld>
            <a:endParaRPr lang="fa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a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1C152C40-CED3-4FD9-9F07-E27178A47490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10183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152C40-CED3-4FD9-9F07-E27178A47490}" type="slidenum">
              <a:rPr lang="fa-IR" smtClean="0"/>
              <a:t>1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138971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99" y="680395"/>
            <a:ext cx="2437039" cy="3655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26509" y="345151"/>
            <a:ext cx="10134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 err="1">
                <a:solidFill>
                  <a:schemeClr val="bg1">
                    <a:lumMod val="95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بیانیه</a:t>
            </a:r>
            <a:r>
              <a:rPr sz="2800" b="1" dirty="0">
                <a:solidFill>
                  <a:schemeClr val="bg1">
                    <a:lumMod val="95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800" b="1" dirty="0" err="1">
                <a:solidFill>
                  <a:schemeClr val="bg1">
                    <a:lumMod val="95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رسمی</a:t>
            </a:r>
            <a:endParaRPr sz="2800" b="1" dirty="0">
              <a:solidFill>
                <a:schemeClr val="bg1">
                  <a:lumMod val="95000"/>
                </a:schemeClr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81479" y="996043"/>
            <a:ext cx="379463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spc="300" dirty="0" err="1">
                <a:ln w="22225">
                  <a:solidFill>
                    <a:schemeClr val="bg1">
                      <a:lumMod val="95000"/>
                    </a:schemeClr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اپوزیسیون</a:t>
            </a:r>
            <a:r>
              <a:rPr sz="3600" b="1" spc="300" dirty="0">
                <a:ln w="22225">
                  <a:solidFill>
                    <a:schemeClr val="bg1">
                      <a:lumMod val="95000"/>
                    </a:schemeClr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3600" b="1" spc="300" dirty="0" err="1">
                <a:ln w="22225">
                  <a:solidFill>
                    <a:schemeClr val="bg1">
                      <a:lumMod val="95000"/>
                    </a:schemeClr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شیر</a:t>
            </a:r>
            <a:r>
              <a:rPr sz="3600" b="1" spc="300" dirty="0">
                <a:ln w="22225">
                  <a:solidFill>
                    <a:schemeClr val="bg1">
                      <a:lumMod val="95000"/>
                    </a:schemeClr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3600" b="1" spc="300" dirty="0" err="1">
                <a:ln w="22225">
                  <a:solidFill>
                    <a:schemeClr val="bg1">
                      <a:lumMod val="95000"/>
                    </a:schemeClr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خورشید</a:t>
            </a:r>
            <a:endParaRPr sz="3600" b="1" spc="300" dirty="0">
              <a:ln w="22225">
                <a:solidFill>
                  <a:schemeClr val="bg1">
                    <a:lumMod val="95000"/>
                  </a:schemeClr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334133" y="4882314"/>
            <a:ext cx="17343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i="0" dirty="0" smtClean="0">
                <a:solidFill>
                  <a:srgbClr val="F5F5DC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14 February 2026</a:t>
            </a:r>
            <a:endParaRPr sz="1000" b="0" dirty="0">
              <a:solidFill>
                <a:srgbClr val="F5F5DC"/>
              </a:solidFill>
              <a:latin typeface="Clother Black" panose="020B0903020203020203" pitchFamily="34" charset="-78"/>
              <a:cs typeface="Clother Black" panose="020B0903020203020203" pitchFamily="34" charset="-7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366790" y="4682290"/>
            <a:ext cx="17343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1000" dirty="0">
                <a:solidFill>
                  <a:srgbClr val="F5F5DC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۲۵ بهمن ۱۴۰۴ </a:t>
            </a:r>
            <a:endParaRPr sz="1000" b="0" dirty="0">
              <a:solidFill>
                <a:srgbClr val="F5F5DC"/>
              </a:solidFill>
              <a:latin typeface="Clother Black" panose="020B0903020203020203" pitchFamily="34" charset="-78"/>
              <a:cs typeface="Clother Black" panose="020B0903020203020203" pitchFamily="34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760" y="-889322"/>
            <a:ext cx="1964329" cy="29464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0" y="1371600"/>
            <a:ext cx="64008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91440" cy="2286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78577" y="1545104"/>
            <a:ext cx="5943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1A1A1A"/>
                </a:solidFill>
                <a:latin typeface="B Nazanin"/>
              </a:defRPr>
            </a:pPr>
            <a:r>
              <a:rPr dirty="0" err="1">
                <a:latin typeface="Aldhabi" panose="01000000000000000000" pitchFamily="2" charset="-78"/>
                <a:cs typeface="Aldhabi" panose="01000000000000000000" pitchFamily="2" charset="-78"/>
              </a:rPr>
              <a:t>در</a:t>
            </a:r>
            <a:r>
              <a:rPr dirty="0"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dirty="0" err="1">
                <a:latin typeface="Aldhabi" panose="01000000000000000000" pitchFamily="2" charset="-78"/>
                <a:cs typeface="Aldhabi" panose="01000000000000000000" pitchFamily="2" charset="-78"/>
              </a:rPr>
              <a:t>آن</a:t>
            </a:r>
            <a:r>
              <a:rPr dirty="0"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dirty="0" err="1">
                <a:latin typeface="Aldhabi" panose="01000000000000000000" pitchFamily="2" charset="-78"/>
                <a:cs typeface="Aldhabi" panose="01000000000000000000" pitchFamily="2" charset="-78"/>
              </a:rPr>
              <a:t>تخت</a:t>
            </a:r>
            <a:r>
              <a:rPr dirty="0">
                <a:latin typeface="Aldhabi" panose="01000000000000000000" pitchFamily="2" charset="-78"/>
                <a:cs typeface="Aldhabi" panose="01000000000000000000" pitchFamily="2" charset="-78"/>
              </a:rPr>
              <a:t> و </a:t>
            </a:r>
            <a:r>
              <a:rPr dirty="0" err="1">
                <a:latin typeface="Aldhabi" panose="01000000000000000000" pitchFamily="2" charset="-78"/>
                <a:cs typeface="Aldhabi" panose="01000000000000000000" pitchFamily="2" charset="-78"/>
              </a:rPr>
              <a:t>مُلک</a:t>
            </a:r>
            <a:r>
              <a:rPr dirty="0"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dirty="0" err="1">
                <a:latin typeface="Aldhabi" panose="01000000000000000000" pitchFamily="2" charset="-78"/>
                <a:cs typeface="Aldhabi" panose="01000000000000000000" pitchFamily="2" charset="-78"/>
              </a:rPr>
              <a:t>از</a:t>
            </a:r>
            <a:r>
              <a:rPr dirty="0"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dirty="0" err="1">
                <a:latin typeface="Aldhabi" panose="01000000000000000000" pitchFamily="2" charset="-78"/>
                <a:cs typeface="Aldhabi" panose="01000000000000000000" pitchFamily="2" charset="-78"/>
              </a:rPr>
              <a:t>خِلل</a:t>
            </a:r>
            <a:r>
              <a:rPr dirty="0"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dirty="0" err="1">
                <a:latin typeface="Aldhabi" panose="01000000000000000000" pitchFamily="2" charset="-78"/>
                <a:cs typeface="Aldhabi" panose="01000000000000000000" pitchFamily="2" charset="-78"/>
              </a:rPr>
              <a:t>غم</a:t>
            </a:r>
            <a:r>
              <a:rPr dirty="0"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dirty="0" err="1" smtClean="0">
                <a:latin typeface="Aldhabi" panose="01000000000000000000" pitchFamily="2" charset="-78"/>
                <a:cs typeface="Aldhabi" panose="01000000000000000000" pitchFamily="2" charset="-78"/>
              </a:rPr>
              <a:t>بُوَد</a:t>
            </a:r>
            <a:endParaRPr lang="fa-IR" dirty="0" smtClean="0">
              <a:latin typeface="Aldhabi" panose="01000000000000000000" pitchFamily="2" charset="-78"/>
              <a:cs typeface="Aldhabi" panose="01000000000000000000" pitchFamily="2" charset="-78"/>
            </a:endParaRPr>
          </a:p>
          <a:p>
            <a:pPr algn="r">
              <a:defRPr sz="2400" b="1">
                <a:solidFill>
                  <a:srgbClr val="1A1A1A"/>
                </a:solidFill>
                <a:latin typeface="B Nazanin"/>
              </a:defRPr>
            </a:pPr>
            <a:endParaRPr lang="fa-IR" dirty="0">
              <a:latin typeface="Aldhabi" panose="01000000000000000000" pitchFamily="2" charset="-78"/>
              <a:cs typeface="Aldhabi" panose="01000000000000000000" pitchFamily="2" charset="-78"/>
            </a:endParaRPr>
          </a:p>
          <a:p>
            <a:pPr algn="r">
              <a:defRPr sz="2400" b="1">
                <a:solidFill>
                  <a:srgbClr val="1A1A1A"/>
                </a:solidFill>
                <a:latin typeface="B Nazanin"/>
              </a:defRPr>
            </a:pPr>
            <a:endParaRPr lang="fa-IR" dirty="0" smtClean="0">
              <a:latin typeface="Aldhabi" panose="01000000000000000000" pitchFamily="2" charset="-78"/>
              <a:cs typeface="Aldhabi" panose="01000000000000000000" pitchFamily="2" charset="-78"/>
            </a:endParaRPr>
          </a:p>
          <a:p>
            <a:pPr algn="r">
              <a:defRPr sz="2400" b="1">
                <a:solidFill>
                  <a:srgbClr val="1A1A1A"/>
                </a:solidFill>
                <a:latin typeface="B Nazanin"/>
              </a:defRPr>
            </a:pPr>
            <a:endParaRPr dirty="0">
              <a:latin typeface="Aldhabi" panose="01000000000000000000" pitchFamily="2" charset="-78"/>
              <a:cs typeface="Aldhabi" panose="01000000000000000000" pitchFamily="2" charset="-78"/>
            </a:endParaRPr>
          </a:p>
          <a:p>
            <a:pPr>
              <a:defRPr sz="2400" b="1">
                <a:solidFill>
                  <a:srgbClr val="1A1A1A"/>
                </a:solidFill>
                <a:latin typeface="B Nazanin"/>
              </a:defRPr>
            </a:pPr>
            <a:r>
              <a:rPr dirty="0" err="1">
                <a:latin typeface="Aldhabi" panose="01000000000000000000" pitchFamily="2" charset="-78"/>
                <a:cs typeface="Aldhabi" panose="01000000000000000000" pitchFamily="2" charset="-78"/>
              </a:rPr>
              <a:t>که</a:t>
            </a:r>
            <a:r>
              <a:rPr dirty="0"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dirty="0" err="1">
                <a:latin typeface="Aldhabi" panose="01000000000000000000" pitchFamily="2" charset="-78"/>
                <a:cs typeface="Aldhabi" panose="01000000000000000000" pitchFamily="2" charset="-78"/>
              </a:rPr>
              <a:t>تدبیر</a:t>
            </a:r>
            <a:r>
              <a:rPr dirty="0"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dirty="0" err="1">
                <a:latin typeface="Aldhabi" panose="01000000000000000000" pitchFamily="2" charset="-78"/>
                <a:cs typeface="Aldhabi" panose="01000000000000000000" pitchFamily="2" charset="-78"/>
              </a:rPr>
              <a:t>شاه</a:t>
            </a:r>
            <a:r>
              <a:rPr dirty="0"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dirty="0" err="1">
                <a:latin typeface="Aldhabi" panose="01000000000000000000" pitchFamily="2" charset="-78"/>
                <a:cs typeface="Aldhabi" panose="01000000000000000000" pitchFamily="2" charset="-78"/>
              </a:rPr>
              <a:t>از</a:t>
            </a:r>
            <a:r>
              <a:rPr dirty="0"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dirty="0" err="1">
                <a:latin typeface="Aldhabi" panose="01000000000000000000" pitchFamily="2" charset="-78"/>
                <a:cs typeface="Aldhabi" panose="01000000000000000000" pitchFamily="2" charset="-78"/>
              </a:rPr>
              <a:t>شبان</a:t>
            </a:r>
            <a:r>
              <a:rPr dirty="0"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dirty="0" err="1">
                <a:latin typeface="Aldhabi" panose="01000000000000000000" pitchFamily="2" charset="-78"/>
                <a:cs typeface="Aldhabi" panose="01000000000000000000" pitchFamily="2" charset="-78"/>
              </a:rPr>
              <a:t>کم</a:t>
            </a:r>
            <a:r>
              <a:rPr dirty="0"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dirty="0" err="1">
                <a:latin typeface="Aldhabi" panose="01000000000000000000" pitchFamily="2" charset="-78"/>
                <a:cs typeface="Aldhabi" panose="01000000000000000000" pitchFamily="2" charset="-78"/>
              </a:rPr>
              <a:t>بُوَد</a:t>
            </a:r>
            <a:endParaRPr dirty="0"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3750240"/>
            <a:ext cx="81785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/>
            </a:pPr>
            <a:r>
              <a:rPr lang="fa-IR" sz="2400" b="1" dirty="0" smtClean="0">
                <a:solidFill>
                  <a:srgbClr val="4A4A4A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-- سعدی</a:t>
            </a:r>
            <a:endParaRPr sz="2400" b="1" dirty="0">
              <a:solidFill>
                <a:srgbClr val="4A4A4A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39343" y="386758"/>
            <a:ext cx="300274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600" b="1" dirty="0" err="1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زمینه</a:t>
            </a:r>
            <a:r>
              <a:rPr sz="3600" b="1" dirty="0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 و </a:t>
            </a:r>
            <a:r>
              <a:rPr sz="3600" b="1" dirty="0" err="1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بستر</a:t>
            </a:r>
            <a:endParaRPr sz="3600" b="1" dirty="0">
              <a:solidFill>
                <a:srgbClr val="1E2761"/>
              </a:solidFill>
              <a:latin typeface="Clother Black" panose="020B0903020203020203" pitchFamily="34" charset="-78"/>
              <a:cs typeface="Clother Black" panose="020B0903020203020203" pitchFamily="34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7315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40010"/>
            <a:ext cx="7680960" cy="201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30000"/>
              </a:lnSpc>
              <a:defRPr sz="1600">
                <a:solidFill>
                  <a:srgbClr val="1A1A1A"/>
                </a:solidFill>
                <a:latin typeface="B Nazanin"/>
              </a:defRPr>
            </a:pPr>
            <a:r>
              <a:rPr lang="fa-IR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نادیده انگاشتن و یا استفاده های حزبی از هشدارهای 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خیرخواهانه،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که</a:t>
            </a:r>
            <a:r>
              <a:rPr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قریب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هفت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سال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است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بنام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فرزندان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پرچم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حال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انتشار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عمومی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خصوصی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باشند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،</a:t>
            </a:r>
            <a:r>
              <a:rPr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از</a:t>
            </a:r>
            <a:r>
              <a:rPr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سوی </a:t>
            </a:r>
            <a:r>
              <a:rPr lang="fa-IR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حاکم وقت کهن ترین تمدن بشری و رهبران </a:t>
            </a:r>
            <a:r>
              <a:rPr lang="fa-IR"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اپوزیسیون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، باعث شده </a:t>
            </a:r>
            <a:r>
              <a:rPr lang="fa-IR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است که میهن عزیزمان میدان </a:t>
            </a:r>
            <a:r>
              <a:rPr lang="fa-IR"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مجادلات</a:t>
            </a:r>
            <a:r>
              <a:rPr lang="fa-IR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منازعات 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حزبی-خاندانی</a:t>
            </a:r>
            <a:r>
              <a:rPr lang="fa-IR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(</a:t>
            </a:r>
            <a:r>
              <a:rPr lang="fa-IR"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الیگارشی</a:t>
            </a:r>
            <a:r>
              <a:rPr lang="fa-IR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)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گشته</a:t>
            </a:r>
            <a:r>
              <a:rPr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امروز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بست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بحرانی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از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سختی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،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ناخشنودی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نابسامانی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های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اقتصادی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امنیتی</a:t>
            </a:r>
            <a:r>
              <a:rPr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دست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پا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بزند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.</a:t>
            </a:r>
            <a:endParaRPr sz="2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760" y="-889322"/>
            <a:ext cx="1964329" cy="2946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91220" y="434784"/>
            <a:ext cx="441178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600" b="1" dirty="0" err="1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شکاف</a:t>
            </a:r>
            <a:r>
              <a:rPr sz="3600" b="1" dirty="0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sz="3600" b="1" dirty="0" err="1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خونین</a:t>
            </a:r>
            <a:r>
              <a:rPr sz="3600" b="1" dirty="0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sz="3600" b="1" dirty="0" err="1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جامعه</a:t>
            </a:r>
            <a:endParaRPr sz="3600" b="1" dirty="0">
              <a:solidFill>
                <a:srgbClr val="1E2761"/>
              </a:solidFill>
              <a:latin typeface="Clother Black" panose="020B0903020203020203" pitchFamily="34" charset="-78"/>
              <a:cs typeface="Clother Black" panose="020B0903020203020203" pitchFamily="34" charset="-7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8066" y="1894703"/>
            <a:ext cx="7680960" cy="201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30000"/>
              </a:lnSpc>
              <a:defRPr sz="1600">
                <a:solidFill>
                  <a:srgbClr val="1A1A1A"/>
                </a:solidFill>
                <a:latin typeface="B Nazanin"/>
              </a:defRPr>
            </a:pP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شوربختانه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،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هم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حاکمیت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هم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اپوزیسیون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ها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هیچ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گونه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توجهی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شکاف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خونین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پدید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آمده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جامعه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نداشته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و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دلخوش </a:t>
            </a:r>
            <a:r>
              <a:rPr lang="fa-IR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به هیجانات </a:t>
            </a:r>
            <a:r>
              <a:rPr lang="fa-IR"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امیدزای</a:t>
            </a:r>
            <a:r>
              <a:rPr lang="fa-IR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lang="fa-IR"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موهوم</a:t>
            </a:r>
            <a:r>
              <a:rPr lang="fa-IR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مقطعی ناشی از لشکرکشی های خیابانی (بی هیچ مطالبه ی مشخص؛ جز تثبیت یا تغییر راس قدرت)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درصدد</a:t>
            </a:r>
            <a:r>
              <a:rPr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کسب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مشروعیت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از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کف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خیابان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مدد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فریاد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های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خشونت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افزا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،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سنگ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یا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حتی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گلوله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باشند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.</a:t>
            </a:r>
            <a:endParaRPr sz="2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7315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760" y="-889322"/>
            <a:ext cx="1964329" cy="2946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34217" y="406791"/>
            <a:ext cx="483818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600" b="1" dirty="0" err="1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راه</a:t>
            </a:r>
            <a:r>
              <a:rPr sz="3600" b="1" dirty="0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sz="3600" b="1" dirty="0" err="1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حل</a:t>
            </a:r>
            <a:r>
              <a:rPr sz="3600" b="1" dirty="0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: </a:t>
            </a:r>
            <a:r>
              <a:rPr sz="3600" b="1" dirty="0" err="1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گفتمان</a:t>
            </a:r>
            <a:r>
              <a:rPr sz="3600" b="1" dirty="0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sz="3600" b="1" dirty="0" err="1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پیشرو</a:t>
            </a:r>
            <a:endParaRPr sz="3600" b="1" dirty="0">
              <a:solidFill>
                <a:srgbClr val="1E2761"/>
              </a:solidFill>
              <a:latin typeface="Clother Black" panose="020B0903020203020203" pitchFamily="34" charset="-78"/>
              <a:cs typeface="Clother Black" panose="020B0903020203020203" pitchFamily="34" charset="-7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1482184"/>
            <a:ext cx="7680960" cy="153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30000"/>
              </a:lnSpc>
              <a:defRPr sz="1600">
                <a:solidFill>
                  <a:srgbClr val="1A1A1A"/>
                </a:solidFill>
                <a:latin typeface="B Nazanin"/>
              </a:defRPr>
            </a:pP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درحالی </a:t>
            </a:r>
            <a:r>
              <a:rPr lang="fa-IR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که از نظر فرزندان پرچم (بنیان گذاران </a:t>
            </a:r>
            <a:r>
              <a:rPr lang="fa-IR"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اپوزیسیون</a:t>
            </a:r>
            <a:r>
              <a:rPr lang="fa-IR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شیر و خورشید)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گفتمان</a:t>
            </a:r>
            <a:r>
              <a:rPr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پیشروی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دیالوگ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محور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برگزاری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رفراندوم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نمادین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پرچم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مسالمت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آمیز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ترین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ثمربخش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ترین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راه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حل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درجهت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تقویت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یکپارچگی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ملی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اعتبار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زایی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برای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ایران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ایرانیان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باشد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.</a:t>
            </a:r>
            <a:endParaRPr sz="2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71600" y="3085284"/>
            <a:ext cx="640080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74495" y="3385939"/>
            <a:ext cx="5852160" cy="978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defRPr sz="1500" b="1">
                <a:solidFill>
                  <a:srgbClr val="8B0000"/>
                </a:solidFill>
                <a:latin typeface="B Nazanin"/>
              </a:defRPr>
            </a:pP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چرا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که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در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سایه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ی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پرچم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مورد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تایید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ملت</a:t>
            </a:r>
            <a:r>
              <a:rPr sz="1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فضای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کشور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برای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به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میان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آوردن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و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پیگیری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مطالبات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به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حق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آماده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گشته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و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پاسخگو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نمودن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حاکمیت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درجهت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انتقال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قدرت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به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ملت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سهولت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پیدا</a:t>
            </a:r>
            <a:r>
              <a:rPr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sz="1600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میکند</a:t>
            </a:r>
            <a:r>
              <a:rPr lang="fa-IR" sz="1600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  <a:endParaRPr sz="16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8229600" cy="7315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760" y="-889322"/>
            <a:ext cx="1964329" cy="2946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34161" y="411250"/>
            <a:ext cx="468108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600" b="1" dirty="0" err="1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تنها</a:t>
            </a:r>
            <a:r>
              <a:rPr sz="3600" b="1" dirty="0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sz="3600" b="1" dirty="0" err="1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راه</a:t>
            </a:r>
            <a:r>
              <a:rPr sz="3600" b="1" dirty="0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sz="3600" b="1" dirty="0" err="1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مسالمت</a:t>
            </a:r>
            <a:r>
              <a:rPr sz="3600" b="1" dirty="0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sz="3600" b="1" dirty="0" err="1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آمیز</a:t>
            </a:r>
            <a:endParaRPr sz="3600" b="1" dirty="0">
              <a:solidFill>
                <a:srgbClr val="1E2761"/>
              </a:solidFill>
              <a:latin typeface="Clother Black" panose="020B0903020203020203" pitchFamily="34" charset="-78"/>
              <a:cs typeface="Clother Black" panose="020B0903020203020203" pitchFamily="34" charset="-7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2782" y="1305557"/>
            <a:ext cx="7680960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700" b="1">
                <a:solidFill>
                  <a:srgbClr val="1A1A1A"/>
                </a:solidFill>
                <a:latin typeface="B Nazanin"/>
              </a:defRPr>
            </a:pP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از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دید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ما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تنها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راه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مسالمت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آمیز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برون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رفت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از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بستی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که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هم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حاکمیت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آن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قرار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دارد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،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هم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اپوزیسیون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ها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هم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میهن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ساکنان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گران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قدرش</a:t>
            </a:r>
            <a:r>
              <a:rPr lang="fa-IR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:</a:t>
            </a:r>
            <a:endParaRPr sz="2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17295" y="2596242"/>
            <a:ext cx="23774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17921" y="3310587"/>
            <a:ext cx="170271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E2761"/>
                </a:solidFill>
                <a:latin typeface="B Nazanin"/>
              </a:defRPr>
            </a:pPr>
            <a:r>
              <a:rPr lang="fa-IR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رفراندوم</a:t>
            </a:r>
            <a:r>
              <a:rPr lang="fa-IR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پرچم 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83976" y="2596242"/>
            <a:ext cx="23774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33254" y="3314639"/>
            <a:ext cx="140134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E2761"/>
                </a:solidFill>
                <a:latin typeface="B Nazanin"/>
              </a:defRPr>
            </a:pPr>
            <a:r>
              <a:rPr lang="fa-IR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صندوق رای 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1097280"/>
            <a:ext cx="8229600" cy="7315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760" y="-889322"/>
            <a:ext cx="1964329" cy="29464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" y="4501453"/>
            <a:ext cx="7680960" cy="572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defRPr sz="1700" b="1">
                <a:solidFill>
                  <a:srgbClr val="1A1A1A"/>
                </a:solidFill>
                <a:latin typeface="B Nazanin"/>
              </a:defRPr>
            </a:pP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می باشد.</a:t>
            </a:r>
            <a:endParaRPr sz="2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68381" y="398512"/>
            <a:ext cx="317747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600" b="1" dirty="0" err="1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واقعیت</a:t>
            </a:r>
            <a:r>
              <a:rPr sz="3600" b="1" dirty="0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sz="3600" b="1" dirty="0" err="1">
                <a:solidFill>
                  <a:srgbClr val="1E2761"/>
                </a:solidFill>
                <a:latin typeface="Clother Black" panose="020B0903020203020203" pitchFamily="34" charset="-78"/>
                <a:cs typeface="Clother Black" panose="020B0903020203020203" pitchFamily="34" charset="-78"/>
              </a:rPr>
              <a:t>امروز</a:t>
            </a:r>
            <a:endParaRPr sz="3600" b="1" dirty="0">
              <a:solidFill>
                <a:srgbClr val="1E2761"/>
              </a:solidFill>
              <a:latin typeface="Clother Black" panose="020B0903020203020203" pitchFamily="34" charset="-78"/>
              <a:cs typeface="Clother Black" panose="020B0903020203020203" pitchFamily="34" charset="-7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1290806"/>
            <a:ext cx="7680960" cy="153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30000"/>
              </a:lnSpc>
              <a:defRPr sz="1600">
                <a:solidFill>
                  <a:srgbClr val="1A1A1A"/>
                </a:solidFill>
                <a:latin typeface="B Nazanin"/>
              </a:defRPr>
            </a:pP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متاسفانه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اما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حاکم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وقت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،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بویژه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بدنه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حاکمیتی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نزدیک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قدرت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پاسخگو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بودن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را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شان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خویش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ندیده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رهبران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اپوزیسیون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ها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نیز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رسالت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ذاتی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خود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که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هدایت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جامعه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مسیری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مسالمت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آمیز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برای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دستیابی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رفاه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،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آرامش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با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اصل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میهن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دوستی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است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را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از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یاد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برده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اند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؛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017520"/>
            <a:ext cx="6400800" cy="14630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3287375"/>
            <a:ext cx="5852160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defRPr sz="1500" b="1">
                <a:solidFill>
                  <a:srgbClr val="FFFFFF"/>
                </a:solidFill>
                <a:latin typeface="B Nazanin"/>
              </a:defRPr>
            </a:pPr>
            <a:r>
              <a:rPr lang="fa-IR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به </a:t>
            </a:r>
            <a:r>
              <a:rPr lang="fa-IR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همین دلایل با احساس وظیفه ی </a:t>
            </a:r>
            <a:r>
              <a:rPr lang="fa-IR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تاریخی-وجدانی-</a:t>
            </a:r>
            <a:r>
              <a:rPr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ملی</a:t>
            </a:r>
            <a:r>
              <a:rPr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،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فرزندان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پرچم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با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تغییر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موضع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فعالیت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هایشان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از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روشنگری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صرف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به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عملگرایی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و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کنشگری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وارد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عمل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می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شوند</a:t>
            </a:r>
            <a:r>
              <a:rPr lang="fa-IR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8229600" cy="7315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760" y="-889322"/>
            <a:ext cx="1964329" cy="2946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22580" y="2452552"/>
            <a:ext cx="283122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dirty="0" err="1">
                <a:solidFill>
                  <a:srgbClr val="B8860B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اعلام</a:t>
            </a:r>
            <a:r>
              <a:rPr sz="4400" b="1" dirty="0">
                <a:solidFill>
                  <a:srgbClr val="B8860B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4400" b="1" dirty="0" err="1">
                <a:solidFill>
                  <a:srgbClr val="B8860B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موجودیت</a:t>
            </a:r>
            <a:r>
              <a:rPr sz="4400" b="1" dirty="0">
                <a:solidFill>
                  <a:srgbClr val="B8860B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4400" b="1" dirty="0" err="1">
                <a:solidFill>
                  <a:srgbClr val="B8860B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رسمی</a:t>
            </a:r>
            <a:endParaRPr sz="4400" b="1" dirty="0">
              <a:solidFill>
                <a:srgbClr val="B8860B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96223" y="3454215"/>
            <a:ext cx="215155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 dirty="0" err="1">
                <a:solidFill>
                  <a:srgbClr val="F5F5DC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بر</a:t>
            </a:r>
            <a:r>
              <a:rPr sz="2600" b="0" dirty="0">
                <a:solidFill>
                  <a:srgbClr val="F5F5DC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600" b="0" dirty="0" err="1">
                <a:solidFill>
                  <a:srgbClr val="F5F5DC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مبنای</a:t>
            </a:r>
            <a:r>
              <a:rPr sz="2600" b="0" dirty="0">
                <a:solidFill>
                  <a:srgbClr val="F5F5DC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600" b="0" dirty="0" err="1">
                <a:solidFill>
                  <a:srgbClr val="F5F5DC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اصول</a:t>
            </a:r>
            <a:r>
              <a:rPr sz="2600" b="0" dirty="0">
                <a:solidFill>
                  <a:srgbClr val="F5F5DC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600" b="0" dirty="0" err="1">
                <a:solidFill>
                  <a:srgbClr val="F5F5DC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چهارده</a:t>
            </a:r>
            <a:r>
              <a:rPr sz="2600" b="0" dirty="0">
                <a:solidFill>
                  <a:srgbClr val="F5F5DC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600" b="0" dirty="0" err="1">
                <a:solidFill>
                  <a:srgbClr val="F5F5DC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گانه</a:t>
            </a:r>
            <a:endParaRPr sz="2600" b="0" dirty="0">
              <a:solidFill>
                <a:srgbClr val="F5F5DC"/>
              </a:solidFill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192" y="-825915"/>
            <a:ext cx="2763612" cy="41454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7129" y="421487"/>
            <a:ext cx="520527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1E2761"/>
                </a:solidFill>
                <a:latin typeface="B Nazanin"/>
              </a:defRPr>
            </a:pPr>
            <a:r>
              <a:rPr dirty="0" err="1">
                <a:latin typeface="Clother Black" panose="020B0903020203020203" pitchFamily="34" charset="-78"/>
                <a:cs typeface="Clother Black" panose="020B0903020203020203" pitchFamily="34" charset="-78"/>
              </a:rPr>
              <a:t>ماموریت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dirty="0" err="1">
                <a:latin typeface="Clother Black" panose="020B0903020203020203" pitchFamily="34" charset="-78"/>
                <a:cs typeface="Clother Black" panose="020B0903020203020203" pitchFamily="34" charset="-78"/>
              </a:rPr>
              <a:t>فرزندان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dirty="0" err="1">
                <a:latin typeface="Clother Black" panose="020B0903020203020203" pitchFamily="34" charset="-78"/>
                <a:cs typeface="Clother Black" panose="020B0903020203020203" pitchFamily="34" charset="-78"/>
              </a:rPr>
              <a:t>پرچم</a:t>
            </a:r>
            <a:endParaRPr dirty="0">
              <a:latin typeface="Clother Black" panose="020B0903020203020203" pitchFamily="34" charset="-78"/>
              <a:cs typeface="Clother Black" panose="020B0903020203020203" pitchFamily="34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38720" y="1737360"/>
            <a:ext cx="546656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8B0000"/>
                </a:solidFill>
                <a:latin typeface="B Nazanin"/>
              </a:defRPr>
            </a:pP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تحقق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صلح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،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دوستی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،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آرامش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و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رفاه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اقتصادی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برای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ملت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28800" y="2286000"/>
            <a:ext cx="5486400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16551" y="2468880"/>
            <a:ext cx="351089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8B0000"/>
                </a:solidFill>
                <a:latin typeface="B Nazanin"/>
              </a:defRPr>
            </a:pP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سربلندی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،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اقتدار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و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امنیت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برای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ایران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28800" y="3017520"/>
            <a:ext cx="5486400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6949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600">
                <a:solidFill>
                  <a:srgbClr val="1A1A1A"/>
                </a:solidFill>
                <a:latin typeface="B Nazanin"/>
              </a:defRPr>
            </a:pPr>
            <a:r>
              <a:rPr sz="2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بی</a:t>
            </a:r>
            <a:r>
              <a:rPr sz="2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هیچ</a:t>
            </a:r>
            <a:r>
              <a:rPr sz="2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چشم</a:t>
            </a:r>
            <a:r>
              <a:rPr sz="2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داشتی</a:t>
            </a:r>
            <a:r>
              <a:rPr sz="2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به</a:t>
            </a:r>
            <a:r>
              <a:rPr sz="2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تثبیت</a:t>
            </a:r>
            <a:r>
              <a:rPr sz="2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، </a:t>
            </a:r>
            <a:r>
              <a:rPr sz="2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تغییر</a:t>
            </a:r>
            <a:r>
              <a:rPr sz="2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ویا</a:t>
            </a:r>
            <a:r>
              <a:rPr sz="2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تسخیر</a:t>
            </a:r>
            <a:r>
              <a:rPr sz="2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جایگاه</a:t>
            </a:r>
            <a:r>
              <a:rPr sz="2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حاکم</a:t>
            </a:r>
            <a:r>
              <a:rPr sz="2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بدست</a:t>
            </a:r>
            <a:r>
              <a:rPr sz="2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گرفتن</a:t>
            </a:r>
            <a:r>
              <a:rPr sz="20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0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قدرت</a:t>
            </a:r>
            <a:endParaRPr sz="20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2659" y="3993803"/>
            <a:ext cx="6949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4A4A4A"/>
                </a:solidFill>
                <a:latin typeface="B Nazanin"/>
              </a:defRPr>
            </a:pPr>
            <a:r>
              <a:rPr sz="2400" b="1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موجودیت</a:t>
            </a:r>
            <a:r>
              <a:rPr sz="24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b="1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رسمی</a:t>
            </a:r>
            <a:r>
              <a:rPr sz="24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b="1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اپوزیسیون</a:t>
            </a:r>
            <a:r>
              <a:rPr sz="24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b="1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شیر</a:t>
            </a:r>
            <a:r>
              <a:rPr sz="24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b="1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خورشید</a:t>
            </a:r>
            <a:r>
              <a:rPr sz="24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b="1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را</a:t>
            </a:r>
            <a:r>
              <a:rPr sz="24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b="1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به</a:t>
            </a:r>
            <a:r>
              <a:rPr sz="24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b="1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همراهان</a:t>
            </a:r>
            <a:r>
              <a:rPr sz="24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b="1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هموطنان</a:t>
            </a:r>
            <a:r>
              <a:rPr sz="24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b="1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عزیز</a:t>
            </a:r>
            <a:r>
              <a:rPr sz="24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b="1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اعلام</a:t>
            </a:r>
            <a:r>
              <a:rPr sz="24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b="1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می</a:t>
            </a:r>
            <a:r>
              <a:rPr sz="2400" b="1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b="1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نمایند</a:t>
            </a:r>
            <a:r>
              <a:rPr lang="fa-IR" sz="2400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.</a:t>
            </a:r>
            <a:endParaRPr sz="2400" b="1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1097280"/>
            <a:ext cx="8229600" cy="7315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760" y="-889322"/>
            <a:ext cx="1964329" cy="2946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70815" y="274320"/>
            <a:ext cx="280237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B8860B"/>
                </a:solidFill>
                <a:latin typeface="B Nazanin"/>
              </a:defRPr>
            </a:pPr>
            <a:r>
              <a:rPr sz="5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اصول</a:t>
            </a:r>
            <a:r>
              <a:rPr sz="5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5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چهارده</a:t>
            </a:r>
            <a:r>
              <a:rPr sz="5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5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گانه</a:t>
            </a:r>
            <a:endParaRPr sz="5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73696" y="3987225"/>
            <a:ext cx="399660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5F5DC"/>
                </a:solidFill>
                <a:latin typeface="B Nazanin"/>
              </a:defRPr>
            </a:pPr>
            <a:r>
              <a:rPr sz="32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مبنای</a:t>
            </a:r>
            <a:r>
              <a:rPr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32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فعالیت</a:t>
            </a:r>
            <a:r>
              <a:rPr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32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اپوزیسیون</a:t>
            </a:r>
            <a:r>
              <a:rPr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32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شیر</a:t>
            </a:r>
            <a:r>
              <a:rPr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32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خورشید</a:t>
            </a:r>
            <a:endParaRPr sz="32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815" y="383723"/>
            <a:ext cx="2792184" cy="4188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19450" y="421065"/>
            <a:ext cx="375295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1E2761"/>
                </a:solidFill>
                <a:latin typeface="B Nazanin"/>
              </a:defRPr>
            </a:pPr>
            <a:r>
              <a:rPr dirty="0" err="1">
                <a:latin typeface="Clother Black" panose="020B0903020203020203" pitchFamily="34" charset="-78"/>
                <a:cs typeface="Clother Black" panose="020B0903020203020203" pitchFamily="34" charset="-78"/>
              </a:rPr>
              <a:t>اصول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dirty="0" err="1">
                <a:latin typeface="Clother Black" panose="020B0903020203020203" pitchFamily="34" charset="-78"/>
                <a:cs typeface="Clother Black" panose="020B0903020203020203" pitchFamily="34" charset="-78"/>
              </a:rPr>
              <a:t>بنیادین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 (۱-۴)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37160" cy="7315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28200" y="1513438"/>
            <a:ext cx="749807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 rtl="1">
              <a:defRPr sz="1500">
                <a:solidFill>
                  <a:srgbClr val="1A1A1A"/>
                </a:solidFill>
                <a:latin typeface="B Nazanin"/>
              </a:defRPr>
            </a:pPr>
            <a:r>
              <a:rPr lang="fa-IR" sz="2400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1.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lang="fa-IR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حفظ تمامیت ارضی 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ایران؛ </a:t>
            </a:r>
            <a:r>
              <a:rPr lang="fa-IR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به مدد مشارکت قدرت تاریخی-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فرهنگی</a:t>
            </a:r>
            <a:r>
              <a:rPr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اقوام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ایرانی</a:t>
            </a:r>
            <a:endParaRPr sz="2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37160" cy="7315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28200" y="2013525"/>
            <a:ext cx="7498079" cy="11387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 rtl="1">
              <a:defRPr sz="1500">
                <a:solidFill>
                  <a:srgbClr val="1A1A1A"/>
                </a:solidFill>
                <a:latin typeface="B Nazanin"/>
              </a:defRPr>
            </a:pPr>
            <a:r>
              <a:rPr lang="fa-IR" sz="2400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2. </a:t>
            </a:r>
            <a:r>
              <a:rPr lang="fa-IR" sz="2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ملی شدن منابع کشور؛ اعم از معادن، </a:t>
            </a:r>
            <a:r>
              <a:rPr lang="fa-IR" sz="22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پالایشگاه</a:t>
            </a:r>
            <a:r>
              <a:rPr lang="fa-IR" sz="2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ها، </a:t>
            </a:r>
            <a:r>
              <a:rPr lang="fa-IR" sz="22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پتروشیمی</a:t>
            </a:r>
            <a:r>
              <a:rPr lang="fa-IR" sz="2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ها، صنایع فلزات و غیره، بعلاوه بازبینی صدور مجوز بانک های خصوصی و رصد عملکرد آن </a:t>
            </a:r>
            <a:r>
              <a:rPr lang="fa-IR" sz="2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ها، با رویکرد  تقویت ارزش پول ملی و رشد پایدار اقتصادی، </a:t>
            </a:r>
            <a:r>
              <a:rPr lang="fa-IR" sz="2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ضمن حمایت از سرمایه گذاری بخش خصوصی </a:t>
            </a:r>
            <a:r>
              <a:rPr lang="fa-IR" sz="22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درجهت</a:t>
            </a:r>
            <a:r>
              <a:rPr lang="fa-IR" sz="2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تامین منافع ملی</a:t>
            </a:r>
            <a:endParaRPr sz="22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37160" cy="7315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22658" y="3243887"/>
            <a:ext cx="749807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 rtl="1">
              <a:defRPr sz="1500">
                <a:solidFill>
                  <a:srgbClr val="1A1A1A"/>
                </a:solidFill>
                <a:latin typeface="B Nazanin"/>
              </a:defRPr>
            </a:pPr>
            <a:r>
              <a:rPr lang="fa-IR" sz="2400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3.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تشکیل</a:t>
            </a:r>
            <a:r>
              <a:rPr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دادگاه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ملی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؛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برای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پیگیری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دعاوی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حقوقی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با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تاکید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استقلال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قضات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قوه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قضاییه</a:t>
            </a:r>
            <a:endParaRPr sz="2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137160" cy="7315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22658" y="4158287"/>
            <a:ext cx="749807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 rtl="1">
              <a:defRPr sz="1500">
                <a:solidFill>
                  <a:srgbClr val="1A1A1A"/>
                </a:solidFill>
                <a:latin typeface="B Nazanin"/>
              </a:defRPr>
            </a:pPr>
            <a:r>
              <a:rPr lang="fa-IR" sz="2400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4.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شفافیت</a:t>
            </a:r>
            <a:r>
              <a:rPr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تمامی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قراردادهای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بین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المللی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؛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بازنگری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قراردهای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پیشین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موجود</a:t>
            </a:r>
            <a:endParaRPr sz="2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1097280"/>
            <a:ext cx="8229600" cy="7315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760" y="-889322"/>
            <a:ext cx="1964329" cy="2946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01643" y="467015"/>
            <a:ext cx="557075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1E2761"/>
                </a:solidFill>
                <a:latin typeface="B Nazanin"/>
              </a:defRPr>
            </a:pPr>
            <a:r>
              <a:rPr lang="fa-IR" dirty="0" smtClean="0"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dirty="0" err="1" smtClean="0">
                <a:latin typeface="Clother Black" panose="020B0903020203020203" pitchFamily="34" charset="-78"/>
                <a:cs typeface="Clother Black" panose="020B0903020203020203" pitchFamily="34" charset="-78"/>
              </a:rPr>
              <a:t>اصول</a:t>
            </a:r>
            <a:r>
              <a:rPr dirty="0" smtClean="0"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dirty="0" err="1">
                <a:latin typeface="Clother Black" panose="020B0903020203020203" pitchFamily="34" charset="-78"/>
                <a:cs typeface="Clother Black" panose="020B0903020203020203" pitchFamily="34" charset="-78"/>
              </a:rPr>
              <a:t>امنیتی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 و </a:t>
            </a:r>
            <a:r>
              <a:rPr dirty="0" err="1">
                <a:latin typeface="Clother Black" panose="020B0903020203020203" pitchFamily="34" charset="-78"/>
                <a:cs typeface="Clother Black" panose="020B0903020203020203" pitchFamily="34" charset="-78"/>
              </a:rPr>
              <a:t>حقوقی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 (۵-۷)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37160" cy="6400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7981" y="1461325"/>
            <a:ext cx="749807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500">
                <a:solidFill>
                  <a:srgbClr val="1A1A1A"/>
                </a:solidFill>
                <a:latin typeface="B Nazanin"/>
              </a:defRPr>
            </a:pPr>
            <a:r>
              <a:rPr lang="fa-IR" sz="2400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۵.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تقویت</a:t>
            </a:r>
            <a:r>
              <a:rPr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هرچه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بیش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ارتش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ملی</a:t>
            </a:r>
            <a:endParaRPr sz="2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37160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7981" y="2468022"/>
            <a:ext cx="749807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500">
                <a:solidFill>
                  <a:srgbClr val="1A1A1A"/>
                </a:solidFill>
                <a:latin typeface="B Nazanin"/>
              </a:defRPr>
            </a:pPr>
            <a:r>
              <a:rPr lang="fa-IR" sz="2400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۶.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تبیین</a:t>
            </a:r>
            <a:r>
              <a:rPr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تحقق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حقوق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شهروندی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با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ضمانت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ماندگاری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قدرت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نزد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ملت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از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طریق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شورای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نظارت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مردمی</a:t>
            </a:r>
            <a:endParaRPr sz="2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3474720"/>
            <a:ext cx="137160" cy="10972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7980" y="3600561"/>
            <a:ext cx="7498079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500">
                <a:solidFill>
                  <a:srgbClr val="1A1A1A"/>
                </a:solidFill>
                <a:latin typeface="B Nazanin"/>
              </a:defRPr>
            </a:pPr>
            <a:r>
              <a:rPr lang="fa-IR" sz="2400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۷.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رسمیت</a:t>
            </a:r>
            <a:r>
              <a:rPr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زبان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پارسی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عنوان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زبان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رسمی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کشور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؛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براساس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حفظ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پاسداشت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سایر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زبان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ها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فرهنگ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قومیت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های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مختلف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که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عنوان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ستون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های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استوار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فرهنگ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ادبیات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ایران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شناخته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شوند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.</a:t>
            </a:r>
            <a:endParaRPr sz="2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8229600" cy="7315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760" y="-889322"/>
            <a:ext cx="1964329" cy="2946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41913" y="454270"/>
            <a:ext cx="476925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1E2761"/>
                </a:solidFill>
                <a:latin typeface="B Nazanin"/>
              </a:defRPr>
            </a:pPr>
            <a:r>
              <a:rPr lang="fa-IR" dirty="0" smtClean="0"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dirty="0" err="1" smtClean="0">
                <a:latin typeface="Clother Black" panose="020B0903020203020203" pitchFamily="34" charset="-78"/>
                <a:cs typeface="Clother Black" panose="020B0903020203020203" pitchFamily="34" charset="-78"/>
              </a:rPr>
              <a:t>عدالت</a:t>
            </a:r>
            <a:r>
              <a:rPr dirty="0" smtClean="0"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و </a:t>
            </a:r>
            <a:r>
              <a:rPr dirty="0" err="1">
                <a:latin typeface="Clother Black" panose="020B0903020203020203" pitchFamily="34" charset="-78"/>
                <a:cs typeface="Clother Black" panose="020B0903020203020203" pitchFamily="34" charset="-78"/>
              </a:rPr>
              <a:t>بازپس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dirty="0" err="1">
                <a:latin typeface="Clother Black" panose="020B0903020203020203" pitchFamily="34" charset="-78"/>
                <a:cs typeface="Clother Black" panose="020B0903020203020203" pitchFamily="34" charset="-78"/>
              </a:rPr>
              <a:t>گیری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 (۸)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55648"/>
            <a:ext cx="7680960" cy="2743200"/>
          </a:xfrm>
          <a:prstGeom prst="rect">
            <a:avLst/>
          </a:prstGeom>
          <a:solidFill>
            <a:srgbClr val="FFFFFF"/>
          </a:solidFill>
          <a:ln w="508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55648"/>
            <a:ext cx="182880" cy="274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07423" y="1971675"/>
            <a:ext cx="6583680" cy="1588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5000"/>
              </a:lnSpc>
              <a:defRPr sz="1700" b="1">
                <a:solidFill>
                  <a:srgbClr val="1A1A1A"/>
                </a:solidFill>
                <a:latin typeface="B Nazanin"/>
              </a:defRPr>
            </a:pP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۸.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محاکمه</a:t>
            </a:r>
            <a:r>
              <a:rPr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عادلانه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ی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تمامی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کسانی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که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دست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خون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اموال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ملت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آلوده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کرده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اند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؛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بازپس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گیری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ثروت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های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تاراج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رفته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خواه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دست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الیگارشی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وابسته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حاکمیت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خواه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اپوزیسیون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های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داخلی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خارجی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8229600" cy="7315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760" y="-889322"/>
            <a:ext cx="1964329" cy="2946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74660" y="439574"/>
            <a:ext cx="506100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1E2761"/>
                </a:solidFill>
                <a:latin typeface="B Nazanin"/>
              </a:defRPr>
            </a:pPr>
            <a:r>
              <a:rPr dirty="0" err="1">
                <a:latin typeface="Clother Black" panose="020B0903020203020203" pitchFamily="34" charset="-78"/>
                <a:cs typeface="Clother Black" panose="020B0903020203020203" pitchFamily="34" charset="-78"/>
              </a:rPr>
              <a:t>آزادی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 و </a:t>
            </a:r>
            <a:r>
              <a:rPr dirty="0" err="1">
                <a:latin typeface="Clother Black" panose="020B0903020203020203" pitchFamily="34" charset="-78"/>
                <a:cs typeface="Clother Black" panose="020B0903020203020203" pitchFamily="34" charset="-78"/>
              </a:rPr>
              <a:t>قدرت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dirty="0" err="1">
                <a:latin typeface="Clother Black" panose="020B0903020203020203" pitchFamily="34" charset="-78"/>
                <a:cs typeface="Clother Black" panose="020B0903020203020203" pitchFamily="34" charset="-78"/>
              </a:rPr>
              <a:t>مردم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lang="fa-IR" dirty="0" smtClean="0"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dirty="0" smtClean="0">
                <a:latin typeface="Clother Black" panose="020B0903020203020203" pitchFamily="34" charset="-78"/>
                <a:cs typeface="Clother Black" panose="020B0903020203020203" pitchFamily="34" charset="-78"/>
              </a:rPr>
              <a:t>(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۹-۱۰)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37160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68947" y="1661967"/>
            <a:ext cx="749807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500">
                <a:solidFill>
                  <a:srgbClr val="1A1A1A"/>
                </a:solidFill>
                <a:latin typeface="B Nazanin"/>
              </a:defRPr>
            </a:pPr>
            <a:r>
              <a:rPr sz="2400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۹</a:t>
            </a:r>
            <a:r>
              <a:rPr lang="fa-IR" sz="2400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.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تقویت</a:t>
            </a:r>
            <a:r>
              <a:rPr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قدرت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دهی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اتحادیه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ها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سندیکاهای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صنفی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قانون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اساسی</a:t>
            </a:r>
            <a:endParaRPr sz="2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137160" cy="6400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68946" y="2740967"/>
            <a:ext cx="749807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500">
                <a:solidFill>
                  <a:srgbClr val="1A1A1A"/>
                </a:solidFill>
                <a:latin typeface="B Nazanin"/>
              </a:defRPr>
            </a:pPr>
            <a:r>
              <a:rPr lang="fa-IR" sz="2400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۱۰.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به</a:t>
            </a:r>
            <a:r>
              <a:rPr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رسمیت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شناختن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آزادی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اندیشه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بیان</a:t>
            </a:r>
            <a:endParaRPr sz="2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80859" y="3930134"/>
            <a:ext cx="3182282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8B0000"/>
                </a:solidFill>
                <a:latin typeface="B Nazanin"/>
              </a:defRPr>
            </a:pPr>
            <a:r>
              <a:rPr lang="fa-IR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قدرت</a:t>
            </a:r>
            <a:r>
              <a:rPr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در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دست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مردم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+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آزادی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بیان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8229600" cy="7315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760" y="-889322"/>
            <a:ext cx="1964329" cy="2946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85432" y="421065"/>
            <a:ext cx="361349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1E2761"/>
                </a:solidFill>
                <a:latin typeface="B Nazanin"/>
              </a:defRPr>
            </a:pPr>
            <a:r>
              <a:rPr dirty="0" err="1">
                <a:latin typeface="Clother Black" panose="020B0903020203020203" pitchFamily="34" charset="-78"/>
                <a:cs typeface="Clother Black" panose="020B0903020203020203" pitchFamily="34" charset="-78"/>
              </a:rPr>
              <a:t>نظام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dirty="0" err="1">
                <a:latin typeface="Clother Black" panose="020B0903020203020203" pitchFamily="34" charset="-78"/>
                <a:cs typeface="Clother Black" panose="020B0903020203020203" pitchFamily="34" charset="-78"/>
              </a:rPr>
              <a:t>حکومتی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lang="fa-IR" dirty="0" smtClean="0"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dirty="0" smtClean="0">
                <a:latin typeface="Clother Black" panose="020B0903020203020203" pitchFamily="34" charset="-78"/>
                <a:cs typeface="Clother Black" panose="020B0903020203020203" pitchFamily="34" charset="-78"/>
              </a:rPr>
              <a:t>(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۱۱)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00" cy="2560320"/>
          </a:xfrm>
          <a:prstGeom prst="rect">
            <a:avLst/>
          </a:prstGeom>
          <a:solidFill>
            <a:srgbClr val="FFFFFF"/>
          </a:solidFill>
          <a:ln w="508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82880" cy="25603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2114937"/>
            <a:ext cx="64008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8B0000"/>
                </a:solidFill>
                <a:latin typeface="B Nazanin"/>
              </a:defRPr>
            </a:pPr>
            <a:r>
              <a:rPr lang="fa-IR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پادشاهی انتخابی؛ تحقق حکومت نخبه گرای خرد </a:t>
            </a:r>
            <a:r>
              <a:rPr lang="fa-IR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محور </a:t>
            </a:r>
            <a:r>
              <a:rPr lang="fa-IR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مردم </a:t>
            </a:r>
            <a:r>
              <a:rPr lang="fa-IR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سالار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43207" y="2969567"/>
            <a:ext cx="2640466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1E2761"/>
                </a:solidFill>
                <a:latin typeface="B Nazanin"/>
              </a:defRPr>
            </a:pPr>
            <a:r>
              <a:rPr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</a:t>
            </a:r>
            <a:r>
              <a:rPr lang="fa-IR"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غیردائمی</a:t>
            </a:r>
            <a:r>
              <a:rPr lang="fa-IR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و انتخابی</a:t>
            </a:r>
            <a:r>
              <a:rPr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8229600" cy="7315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760" y="-889322"/>
            <a:ext cx="1964329" cy="2946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32512" y="365760"/>
            <a:ext cx="403988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1E2761"/>
                </a:solidFill>
                <a:latin typeface="B Nazanin"/>
              </a:defRPr>
            </a:pPr>
            <a:r>
              <a:rPr dirty="0" err="1">
                <a:latin typeface="Clother Black" panose="020B0903020203020203" pitchFamily="34" charset="-78"/>
                <a:cs typeface="Clother Black" panose="020B0903020203020203" pitchFamily="34" charset="-78"/>
              </a:rPr>
              <a:t>دین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 و </a:t>
            </a:r>
            <a:r>
              <a:rPr dirty="0" err="1">
                <a:latin typeface="Clother Black" panose="020B0903020203020203" pitchFamily="34" charset="-78"/>
                <a:cs typeface="Clother Black" panose="020B0903020203020203" pitchFamily="34" charset="-78"/>
              </a:rPr>
              <a:t>احترام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lang="fa-IR" dirty="0" smtClean="0"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dirty="0" smtClean="0">
                <a:latin typeface="Clother Black" panose="020B0903020203020203" pitchFamily="34" charset="-78"/>
                <a:cs typeface="Clother Black" panose="020B0903020203020203" pitchFamily="34" charset="-78"/>
              </a:rPr>
              <a:t>(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۱۲-۱۳)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37160" cy="10058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1" y="1735127"/>
            <a:ext cx="749807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500">
                <a:solidFill>
                  <a:srgbClr val="1A1A1A"/>
                </a:solidFill>
                <a:latin typeface="B Nazanin"/>
              </a:defRPr>
            </a:pPr>
            <a:r>
              <a:rPr lang="fa-IR" sz="2400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۱۲.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عدم</a:t>
            </a:r>
            <a:r>
              <a:rPr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دخالت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دین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سیاست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؛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ضمن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حراست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از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آزادی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ادیان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ممنوعیت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هرگونه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فعالیت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دین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ستیزانه</a:t>
            </a:r>
            <a:endParaRPr sz="2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37160" cy="6400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647741"/>
            <a:ext cx="7498079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500">
                <a:solidFill>
                  <a:srgbClr val="1A1A1A"/>
                </a:solidFill>
                <a:latin typeface="B Nazanin"/>
              </a:defRPr>
            </a:pPr>
            <a:r>
              <a:rPr lang="fa-IR" sz="2400" b="1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۱۳. </a:t>
            </a:r>
            <a:r>
              <a:rPr lang="fa-IR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قانون منع توهین به محترمین، شئون و مقدسات؛ اعم از بزرگان و شخصیت های فرهنگی، ملی، مذهبی 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و یا </a:t>
            </a:r>
            <a:r>
              <a:rPr lang="fa-IR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اماکن تاریخی، دینی و غیره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.</a:t>
            </a:r>
            <a:endParaRPr sz="2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28800" y="3840480"/>
            <a:ext cx="54864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040" y="4067294"/>
            <a:ext cx="2561920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8B0000"/>
                </a:solidFill>
                <a:latin typeface="B Nazanin"/>
              </a:defRPr>
            </a:pPr>
            <a:r>
              <a:rPr lang="fa-IR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آزادی</a:t>
            </a:r>
            <a:r>
              <a:rPr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دین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+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احترام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متقابل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8229600" cy="7315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760" y="-889322"/>
            <a:ext cx="1964329" cy="2946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09680" y="476150"/>
            <a:ext cx="37769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1E2761"/>
                </a:solidFill>
                <a:latin typeface="B Nazanin"/>
              </a:defRPr>
            </a:pPr>
            <a:r>
              <a:rPr dirty="0" err="1">
                <a:latin typeface="Clother Black" panose="020B0903020203020203" pitchFamily="34" charset="-78"/>
                <a:cs typeface="Clother Black" panose="020B0903020203020203" pitchFamily="34" charset="-78"/>
              </a:rPr>
              <a:t>تحول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 </a:t>
            </a:r>
            <a:r>
              <a:rPr dirty="0" err="1">
                <a:latin typeface="Clother Black" panose="020B0903020203020203" pitchFamily="34" charset="-78"/>
                <a:cs typeface="Clother Black" panose="020B0903020203020203" pitchFamily="34" charset="-78"/>
              </a:rPr>
              <a:t>آموزشی</a:t>
            </a:r>
            <a:r>
              <a:rPr dirty="0">
                <a:latin typeface="Clother Black" panose="020B0903020203020203" pitchFamily="34" charset="-78"/>
                <a:cs typeface="Clother Black" panose="020B0903020203020203" pitchFamily="34" charset="-78"/>
              </a:rPr>
              <a:t> (۱۴)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7680960" cy="2743200"/>
          </a:xfrm>
          <a:prstGeom prst="rect">
            <a:avLst/>
          </a:prstGeom>
          <a:solidFill>
            <a:srgbClr val="FFFFFF"/>
          </a:solidFill>
          <a:ln w="508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28600" cy="27432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72021" y="2042175"/>
            <a:ext cx="6583680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5000"/>
              </a:lnSpc>
              <a:defRPr sz="1700" b="1">
                <a:solidFill>
                  <a:srgbClr val="1A1A1A"/>
                </a:solidFill>
                <a:latin typeface="B Nazanin"/>
              </a:defRPr>
            </a:pP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تغییر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اساسی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ساختاری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سیستم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آموزشی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کشور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؛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در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راستای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گسترش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بهینه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ی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مبانی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ملی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حول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فرهنگ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ادبیات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محور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و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پرافتخار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تاریخ</a:t>
            </a:r>
            <a:r>
              <a:rPr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2400" dirty="0" err="1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ایران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(</a:t>
            </a:r>
            <a:r>
              <a:rPr lang="fa-IR" sz="2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پیش یا پسا اسلام</a:t>
            </a:r>
            <a:r>
              <a:rPr lang="fa-IR" sz="2400" dirty="0" smtClean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).</a:t>
            </a:r>
            <a:endParaRPr lang="fa-IR" sz="2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8229600" cy="7315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760" y="-889322"/>
            <a:ext cx="1964329" cy="2946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1835" y="274320"/>
            <a:ext cx="214033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B8860B"/>
                </a:solidFill>
                <a:latin typeface="B Nazanin"/>
              </a:defRPr>
            </a:pPr>
            <a:r>
              <a:rPr sz="48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رسالت</a:t>
            </a:r>
            <a:r>
              <a:rPr sz="48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sz="4800" dirty="0" err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نامحدود</a:t>
            </a:r>
            <a:endParaRPr sz="48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7315200" cy="8229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8096" y="4239548"/>
            <a:ext cx="6766560" cy="5878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defRPr sz="1400" b="1">
                <a:solidFill>
                  <a:srgbClr val="1E2761"/>
                </a:solidFill>
                <a:latin typeface="B Nazanin"/>
              </a:defRPr>
            </a:pPr>
            <a:r>
              <a:rPr lang="fa-IR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تحقق </a:t>
            </a:r>
            <a:r>
              <a:rPr lang="fa-IR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و پاسداری از اصول چهارده گانه ی فوق حول پرچم </a:t>
            </a:r>
            <a:r>
              <a:rPr lang="fa-IR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ملی-</a:t>
            </a:r>
            <a:r>
              <a:rPr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مذهبی</a:t>
            </a:r>
            <a:r>
              <a:rPr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شیر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و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خورشید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بدون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در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نظر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گرفتن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عنوان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و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یا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اشخاص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مسئول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در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سیستم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حاکم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بر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ایران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815" y="383723"/>
            <a:ext cx="2792184" cy="4188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71600" y="365760"/>
            <a:ext cx="6400800" cy="5486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81513" y="356426"/>
            <a:ext cx="2170787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B Nazanin"/>
              </a:defRPr>
            </a:pP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ای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نور</a:t>
            </a:r>
            <a:r>
              <a:rPr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dirty="0" err="1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دیدگان</a:t>
            </a:r>
            <a:r>
              <a:rPr lang="fa-IR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!</a:t>
            </a:r>
            <a:endParaRPr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2519" y="4206240"/>
            <a:ext cx="439896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2761"/>
                </a:solidFill>
                <a:latin typeface="B Nazanin"/>
              </a:defRPr>
            </a:pPr>
            <a:r>
              <a:rPr sz="360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صلح به از جنگ و داوری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815" y="383723"/>
            <a:ext cx="2792184" cy="4188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28853" y="320040"/>
            <a:ext cx="287610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B8860B"/>
                </a:solidFill>
                <a:latin typeface="B Nazanin"/>
              </a:defRPr>
            </a:pPr>
            <a:r>
              <a:rPr sz="4400" b="1">
                <a:latin typeface="Arabic Typesetting" panose="03020402040406030203" pitchFamily="66" charset="-78"/>
                <a:cs typeface="Arabic Typesetting" panose="03020402040406030203" pitchFamily="66" charset="-78"/>
              </a:rPr>
              <a:t>باتقدیم احترام و تشکر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4389120"/>
            <a:ext cx="5486400" cy="5486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57669" y="4432608"/>
            <a:ext cx="4028667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B Nazanin"/>
              </a:defRPr>
            </a:pPr>
            <a:r>
              <a:rPr lang="fa-IR" sz="2400" dirty="0" err="1" smtClean="0">
                <a:latin typeface="Clother Black" panose="020B0903020203020203" pitchFamily="34" charset="-78"/>
                <a:cs typeface="Clother Black" panose="020B0903020203020203" pitchFamily="34" charset="-78"/>
              </a:rPr>
              <a:t>اپوزیسیون</a:t>
            </a:r>
            <a:r>
              <a:rPr lang="fa-IR" sz="2400" dirty="0" smtClean="0">
                <a:latin typeface="Clother Black" panose="020B0903020203020203" pitchFamily="34" charset="-78"/>
                <a:cs typeface="Clother Black" panose="020B0903020203020203" pitchFamily="34" charset="-78"/>
              </a:rPr>
              <a:t> شیر و خورشید</a:t>
            </a:r>
            <a:endParaRPr sz="2400" dirty="0">
              <a:latin typeface="Clother Black" panose="020B0903020203020203" pitchFamily="34" charset="-78"/>
              <a:cs typeface="Clother Black" panose="020B0903020203020203" pitchFamily="34" charset="-7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815" y="292283"/>
            <a:ext cx="2792184" cy="4188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875</Words>
  <Application>Microsoft Office PowerPoint</Application>
  <PresentationFormat>On-screen Show (16:9)</PresentationFormat>
  <Paragraphs>65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 Unicode MS</vt:lpstr>
      <vt:lpstr>Aldhabi</vt:lpstr>
      <vt:lpstr>Arabic Typesetting</vt:lpstr>
      <vt:lpstr>Arial</vt:lpstr>
      <vt:lpstr>Calibri</vt:lpstr>
      <vt:lpstr>Clother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Sattar Hedayat</cp:lastModifiedBy>
  <cp:revision>22</cp:revision>
  <dcterms:created xsi:type="dcterms:W3CDTF">2013-01-27T09:14:16Z</dcterms:created>
  <dcterms:modified xsi:type="dcterms:W3CDTF">2026-02-14T09:27:51Z</dcterms:modified>
  <cp:category/>
</cp:coreProperties>
</file>