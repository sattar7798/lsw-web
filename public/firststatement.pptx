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F84"/>
    <a:srgbClr val="F5CF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10" d="100"/>
          <a:sy n="110" d="100"/>
        </p:scale>
        <p:origin x="423" y="1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ABCAC30-2E51-4C45-8867-A17818EC0A1D}" type="datetimeFigureOut">
              <a:rPr lang="fa-IR" smtClean="0"/>
              <a:t>27/08/1447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1C152C40-CED3-4FD9-9F07-E27178A47490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0183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152C40-CED3-4FD9-9F07-E27178A47490}" type="slidenum">
              <a:rPr lang="fa-IR" smtClean="0"/>
              <a:t>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38971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5881" y="1311295"/>
            <a:ext cx="5425825" cy="3617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6509" y="345151"/>
            <a:ext cx="101341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 err="1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بیانیه</a:t>
            </a:r>
            <a:r>
              <a:rPr sz="2800" b="1" dirty="0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800" b="1" dirty="0" err="1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endParaRPr sz="2800" b="1" dirty="0">
              <a:solidFill>
                <a:schemeClr val="bg1">
                  <a:lumMod val="95000"/>
                </a:schemeClr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681479" y="996043"/>
            <a:ext cx="379463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3600" b="1" spc="300" dirty="0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3600" b="1" spc="300" dirty="0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endParaRPr sz="3600" b="1" spc="300" dirty="0">
              <a:ln w="22225">
                <a:solidFill>
                  <a:schemeClr val="bg1">
                    <a:lumMod val="95000"/>
                  </a:schemeClr>
                </a:solidFill>
                <a:prstDash val="solid"/>
              </a:ln>
              <a:solidFill>
                <a:schemeClr val="bg1">
                  <a:lumMod val="95000"/>
                </a:schemeClr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334133" y="4882314"/>
            <a:ext cx="17343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000" i="0" dirty="0" smtClean="0">
                <a:solidFill>
                  <a:srgbClr val="F5F5DC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14 February 2026</a:t>
            </a:r>
            <a:endParaRPr sz="1000" b="0" dirty="0">
              <a:solidFill>
                <a:srgbClr val="F5F5DC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366790" y="4682290"/>
            <a:ext cx="17343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1000" dirty="0">
                <a:solidFill>
                  <a:srgbClr val="F5F5DC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۲۵ بهمن ۱۴۰۴ </a:t>
            </a:r>
            <a:endParaRPr sz="1000" b="0" dirty="0">
              <a:solidFill>
                <a:srgbClr val="F5F5DC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125" y="-335164"/>
            <a:ext cx="2690275" cy="179351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371600"/>
            <a:ext cx="6400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91440" cy="2286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78577" y="1545104"/>
            <a:ext cx="5943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در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آن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تخت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و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مُلک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از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خِلل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غم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 smtClean="0">
                <a:latin typeface="Aldhabi" panose="01000000000000000000" pitchFamily="2" charset="-78"/>
                <a:cs typeface="Aldhabi" panose="01000000000000000000" pitchFamily="2" charset="-78"/>
              </a:rPr>
              <a:t>بُوَد</a:t>
            </a:r>
            <a:endParaRPr lang="fa-IR" dirty="0" smtClean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lang="fa-IR" dirty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lang="fa-IR" dirty="0" smtClean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dirty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>
              <a:defRPr sz="2400" b="1">
                <a:solidFill>
                  <a:srgbClr val="1A1A1A"/>
                </a:solidFill>
                <a:latin typeface="B Nazanin"/>
              </a:defRPr>
            </a:pP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که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تدبیر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شاه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از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شبان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کم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بُوَد</a:t>
            </a:r>
            <a:endParaRPr dirty="0">
              <a:latin typeface="Aldhabi" panose="01000000000000000000" pitchFamily="2" charset="-78"/>
              <a:cs typeface="Aldhabi" panose="01000000000000000000" pitchFamily="2" charset="-7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3750240"/>
            <a:ext cx="81785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lang="fa-IR" sz="2400" b="1" dirty="0" smtClean="0">
                <a:solidFill>
                  <a:srgbClr val="4A4A4A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-- سعدی</a:t>
            </a:r>
            <a:endParaRPr sz="2400" b="1" dirty="0">
              <a:solidFill>
                <a:srgbClr val="4A4A4A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39343" y="386758"/>
            <a:ext cx="300274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زمینه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بستر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840010"/>
            <a:ext cx="7680960" cy="201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نادیده انگاشتن و یا استفاده های حزبی از هشدارهای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خیرخواهانه،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قریب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هفت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بنام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فرزندان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پرچم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انتشار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عمومی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خصوصی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سوی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 وقت کهن ترین تمدن بشری و رهبران </a:t>
            </a:r>
            <a:r>
              <a:rPr lang="fa-IR"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باعث شده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 که میهن عزیزمان میدان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مجادلات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منازعات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حزبی-خاندانی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(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الیگارشی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گشته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امروز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بحرانی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سختی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ناخشنودی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نابسامانی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اقتصادی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امنیتی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بزند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9487" y="-288295"/>
            <a:ext cx="2690275" cy="179351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91220" y="434784"/>
            <a:ext cx="441178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شکاف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خونین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جامعه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066" y="1894703"/>
            <a:ext cx="7680960" cy="201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شوربختانه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هیچ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گونه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توجهی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شکاف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خونین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پدید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جامعه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نداشته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دلخوش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 هیجانات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امیدزای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موهوم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مقطعی ناشی از لشکرکشی های خیابانی (بی هیچ مطالبه ی مشخص؛ جز تثبیت یا تغییر راس قدرت)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درصدد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کسب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مشروعیت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خیابان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مدد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فریاد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خشونت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افزا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گلوله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042" y="-297414"/>
            <a:ext cx="2690275" cy="179351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34217" y="406791"/>
            <a:ext cx="48381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راه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حل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: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گفتمان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پیشرو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482184"/>
            <a:ext cx="7680960" cy="153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درحالی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 از نظر فرزندان پرچم (بنیان گذاران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شیر و خورشید)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گفتمان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پیشروی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دیالوگ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برگزاری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رفراندوم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نمادین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پرچم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ثمربخش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درجهت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یکپارچگی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اعتبار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زایی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ایرانیان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71600" y="3085284"/>
            <a:ext cx="6400800" cy="1645920"/>
          </a:xfrm>
          <a:prstGeom prst="rect">
            <a:avLst/>
          </a:prstGeom>
          <a:solidFill>
            <a:srgbClr val="FFFFFF"/>
          </a:solidFill>
          <a:ln w="381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74495" y="3385939"/>
            <a:ext cx="5852160" cy="978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8B0000"/>
                </a:solidFill>
                <a:latin typeface="B Nazanin"/>
              </a:defRPr>
            </a:pP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چرا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سایه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ی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پرچم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مورد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تایید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r>
              <a:rPr sz="1600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فضای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کشور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میان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آوردن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پیگیری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مطالبات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حق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آماده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گشته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پاسخگو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نمودن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حاکمیت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درجهت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انتقال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قدرت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سهولت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پیدا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میکند</a:t>
            </a:r>
            <a:r>
              <a:rPr lang="fa-IR" sz="1600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.</a:t>
            </a:r>
            <a:endParaRPr sz="16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2070" y="-280635"/>
            <a:ext cx="2690275" cy="17935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34161" y="411250"/>
            <a:ext cx="468108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تنها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راه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مسالمت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آمیز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32782" y="1305557"/>
            <a:ext cx="7680960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تنها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بستی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دارد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میهن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ساکنان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قدرش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: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17295" y="2596242"/>
            <a:ext cx="23774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17921" y="3310587"/>
            <a:ext cx="1702710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B Nazanin"/>
              </a:defRPr>
            </a:pPr>
            <a:r>
              <a:rPr lang="fa-IR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رفراندوم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پرچم 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83976" y="2596242"/>
            <a:ext cx="23774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33254" y="3314639"/>
            <a:ext cx="1401346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B Nazanin"/>
              </a:defRPr>
            </a:pP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صندوق رای 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501453"/>
            <a:ext cx="7680960" cy="57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 باشد.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125" y="-293915"/>
            <a:ext cx="2690275" cy="179351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68381" y="398512"/>
            <a:ext cx="317747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واقعیت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امروز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290806"/>
            <a:ext cx="7680960" cy="153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متاسفانه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وقت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بویژه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بدنه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نزدیک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پاسخگو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بودن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خویش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ندیده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رهبران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رسالت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ذاتی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هدایت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جامعه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دستیابی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آرامش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میهن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دوستی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یاد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6400800" cy="1463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287375"/>
            <a:ext cx="5852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FFFFFF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همین دلایل با احساس وظیفه ی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تاریخی-وجدانی-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فرزندان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پرچم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با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تغییر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موضع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فعالیت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هایشان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از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روشنگری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صرف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عملگرایی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کنشگری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وارد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عمل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شوند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.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875" y="-259663"/>
            <a:ext cx="2690275" cy="17935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22580" y="2452552"/>
            <a:ext cx="283122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اعلام</a:t>
            </a:r>
            <a:r>
              <a:rPr sz="4400" b="1" dirty="0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موجودیت</a:t>
            </a:r>
            <a:r>
              <a:rPr sz="4400" b="1" dirty="0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endParaRPr sz="4400" b="1" dirty="0">
              <a:solidFill>
                <a:srgbClr val="B8860B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496223" y="3454215"/>
            <a:ext cx="215155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مبنای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اصول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چهارده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گانه</a:t>
            </a:r>
            <a:endParaRPr sz="2600" b="0" dirty="0">
              <a:solidFill>
                <a:srgbClr val="F5F5DC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735" y="34039"/>
            <a:ext cx="3722914" cy="248194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67129" y="421487"/>
            <a:ext cx="520527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6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ماموریت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فرزندان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پرچم</a:t>
            </a:r>
            <a:endParaRPr dirty="0"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solidFill>
            <a:srgbClr val="FFFFFF"/>
          </a:solidFill>
          <a:ln w="381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38720" y="1737360"/>
            <a:ext cx="546656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صلح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دوستی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آرامش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رفاه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اقتصادی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828800" y="2286000"/>
            <a:ext cx="54864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16551" y="2468880"/>
            <a:ext cx="351089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سربلندی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اقتدار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امنیت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ایران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828800" y="3017520"/>
            <a:ext cx="54864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هیچ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چشم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داشتی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تثبیت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تغییر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ویا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تسخیر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جایگاه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بدست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گرفتن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endParaRPr sz="20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2659" y="3993803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4A4A4A"/>
                </a:solidFill>
                <a:latin typeface="B Nazanin"/>
              </a:defRPr>
            </a:pP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موجودیت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همراهان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هموطنان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عزیز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اعلام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نمایند</a:t>
            </a: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b="1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70815" y="274320"/>
            <a:ext cx="280237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B8860B"/>
                </a:solidFill>
                <a:latin typeface="B Nazanin"/>
              </a:defRPr>
            </a:pP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اصول</a:t>
            </a:r>
            <a:r>
              <a:rPr sz="5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چهارده</a:t>
            </a:r>
            <a:r>
              <a:rPr sz="5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گانه</a:t>
            </a:r>
            <a:endParaRPr sz="5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73696" y="3987225"/>
            <a:ext cx="399660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F5DC"/>
                </a:solidFill>
                <a:latin typeface="B Nazanin"/>
              </a:defRPr>
            </a:pP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مبنای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فعالیت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endParaRPr sz="32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4" y="735985"/>
            <a:ext cx="5637430" cy="375828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19450" y="421065"/>
            <a:ext cx="375295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اصول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بنیادین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(۱-۴)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28200" y="1513438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1.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حفظ تمامیت ارضی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ایران؛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 مدد مشارکت قدرت تاریخی-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اقوام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8200" y="2013525"/>
            <a:ext cx="7498079" cy="113877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2. 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 شدن منابع کشور؛ اعم از معادن، </a:t>
            </a:r>
            <a:r>
              <a:rPr lang="fa-IR" sz="2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پالایشگاه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ها، </a:t>
            </a:r>
            <a:r>
              <a:rPr lang="fa-IR" sz="2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پتروشیمی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ها، صنایع فلزات و غیره، بعلاوه بازبینی صدور مجوز بانک های خصوصی و رصد عملکرد آن ها، با رویکرد  تقویت ارزش پول ملی و رشد پایدار اقتصادی، ضمن حمایت از سرمایه گذاری بخش خصوصی </a:t>
            </a:r>
            <a:r>
              <a:rPr lang="fa-IR" sz="2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درجهت</a:t>
            </a:r>
            <a:r>
              <a:rPr lang="fa-IR" sz="2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تامین منافع ملی</a:t>
            </a:r>
            <a:endParaRPr sz="22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2658" y="324388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3.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تشکیل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دادگاه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پیگیری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دعاوی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حقوقی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تاکید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استقلال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قضات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قوه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قضاییه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22658" y="415828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 rtl="1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4.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شفافیت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تمامی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قراردادهای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المللی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بازنگری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قراردهای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01643" y="467015"/>
            <a:ext cx="557075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اصول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امنیتی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حقوقی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(۵-۷)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7981" y="1461325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۵.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هرچه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ارتش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137160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37981" y="2468022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۶.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تبیین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تحقق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حقوق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شهروندی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ضمانت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ماندگاری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نزد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طریق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نظارت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مردمی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137160" cy="10972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7980" y="3600561"/>
            <a:ext cx="7498079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۷.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پارسی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عنوان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کشور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براساس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حفظ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پاسداشت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سایر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قومیت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مختلف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عنوان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ستون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استوار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ادبیات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شناخته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41913" y="454270"/>
            <a:ext cx="476925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عدالت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بازپس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گیری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(۸)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55648"/>
            <a:ext cx="7680960" cy="2743200"/>
          </a:xfrm>
          <a:prstGeom prst="rect">
            <a:avLst/>
          </a:prstGeom>
          <a:solidFill>
            <a:srgbClr val="FFFFFF"/>
          </a:solidFill>
          <a:ln w="508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55648"/>
            <a:ext cx="182880" cy="27432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07423" y="1971675"/>
            <a:ext cx="6583680" cy="1588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۸.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محاکمه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عادلانه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تمامی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کسانی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اموال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آلوده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کرده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بازپس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ثروت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تاراج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الیگارشی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وابسته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داخلی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خارجی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74660" y="439574"/>
            <a:ext cx="506100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آزادی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قدرت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مردم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۹-۱۰)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37160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68947" y="166196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۹</a:t>
            </a: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دهی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اتحادیه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سندیکاهای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صنفی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قانون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اساسی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68946" y="274096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۱۰.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شناختن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آزادی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اندیشه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بیان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80859" y="3930134"/>
            <a:ext cx="3182282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8B0000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قدرت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دست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مردم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+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آزادی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بیان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85432" y="421065"/>
            <a:ext cx="361349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نظام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حکومتی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۱۱)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7315200" cy="2560320"/>
          </a:xfrm>
          <a:prstGeom prst="rect">
            <a:avLst/>
          </a:prstGeom>
          <a:solidFill>
            <a:srgbClr val="FFFFFF"/>
          </a:solidFill>
          <a:ln w="508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82880" cy="25603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14937"/>
            <a:ext cx="640080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پادشاهی انتخابی؛ تحقق حکومت نخبه گرای خرد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محور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مردم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سالار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43207" y="2969567"/>
            <a:ext cx="2640466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B Nazanin"/>
              </a:defRPr>
            </a:pP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(</a:t>
            </a:r>
            <a:r>
              <a:rPr lang="fa-IR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غیردائمی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انتخابی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)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32512" y="365760"/>
            <a:ext cx="403988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دین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احترام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۱۲-۱۳)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1" y="173512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۱۲.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عدم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دخالت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سیاست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ضمن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حراست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آزادی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ادیان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ممنوعیت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هرگونه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فعالیت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ستیزانه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47741"/>
            <a:ext cx="7498079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۱۳.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قانون منع توهین به محترمین، شئون و مقدسات؛ اعم از بزرگان و شخصیت های فرهنگی، ملی، مذهبی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یا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اماکن تاریخی، دینی و غیره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828800" y="3840480"/>
            <a:ext cx="5486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040" y="4067294"/>
            <a:ext cx="2561920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8B0000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آزادی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دین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+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احترام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متقابل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09680" y="476150"/>
            <a:ext cx="377699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تحول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آموزشی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(۱۴)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7680960" cy="2743200"/>
          </a:xfrm>
          <a:prstGeom prst="rect">
            <a:avLst/>
          </a:prstGeom>
          <a:solidFill>
            <a:srgbClr val="FFFFFF"/>
          </a:solidFill>
          <a:ln w="508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28600" cy="274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021" y="2042175"/>
            <a:ext cx="6583680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تغییر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اساسی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ساختاری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سیستم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آموزشی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کشور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راستای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گسترش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بهینه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حول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ادبیات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پرافتخار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تاریخ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(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 یا پسا اسلام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).</a:t>
            </a:r>
            <a:endParaRPr lang="fa-IR"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986" y="-244254"/>
            <a:ext cx="2690275" cy="179351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93" y="279838"/>
            <a:ext cx="1155638" cy="650047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1835" y="274320"/>
            <a:ext cx="214033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B8860B"/>
                </a:solidFill>
                <a:latin typeface="B Nazanin"/>
              </a:defRPr>
            </a:pPr>
            <a:r>
              <a:rPr sz="48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رسالت</a:t>
            </a:r>
            <a:r>
              <a:rPr sz="48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8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نامحدود</a:t>
            </a:r>
            <a:endParaRPr sz="48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4114800"/>
            <a:ext cx="7315200" cy="8229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8096" y="4239548"/>
            <a:ext cx="6766560" cy="587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و پاسداری از اصول چهارده گانه ی فوق حول پرچم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ملی-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مذهبی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شیر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خورشید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بدون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نظر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گرفتن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عنوان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یا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اشخاص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مسئول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سیستم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حاکم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ایران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5" y="730916"/>
            <a:ext cx="5637430" cy="3758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371600" y="365760"/>
            <a:ext cx="6400800" cy="5486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81513" y="356426"/>
            <a:ext cx="2170787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نور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دیدگان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!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2519" y="4206240"/>
            <a:ext cx="439896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sz="360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صلح به از جنگ و داوری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4" y="735985"/>
            <a:ext cx="5637430" cy="3758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28853" y="320040"/>
            <a:ext cx="287610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B8860B"/>
                </a:solidFill>
                <a:latin typeface="B Nazanin"/>
              </a:defRPr>
            </a:pPr>
            <a:r>
              <a:rPr sz="4400" b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باتقدیم احترام و تشکر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4389120"/>
            <a:ext cx="5486400" cy="5486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57669" y="4432608"/>
            <a:ext cx="4028667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B Nazanin"/>
              </a:defRPr>
            </a:pPr>
            <a:r>
              <a:rPr lang="fa-IR" sz="2400"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اپوزیسیون</a:t>
            </a:r>
            <a:r>
              <a:rPr lang="fa-IR" sz="2400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شیر و خورشید</a:t>
            </a:r>
            <a:endParaRPr sz="2400" dirty="0"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6" y="57234"/>
            <a:ext cx="1023704" cy="575834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284" y="735985"/>
            <a:ext cx="5637430" cy="3758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875</Words>
  <Application>Microsoft Office PowerPoint</Application>
  <PresentationFormat>On-screen Show (16:9)</PresentationFormat>
  <Paragraphs>65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 Unicode MS</vt:lpstr>
      <vt:lpstr>Aldhabi</vt:lpstr>
      <vt:lpstr>Arabic Typesetting</vt:lpstr>
      <vt:lpstr>Arial</vt:lpstr>
      <vt:lpstr>Calibri</vt:lpstr>
      <vt:lpstr>Clother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Sattar Hedayat</cp:lastModifiedBy>
  <cp:revision>29</cp:revision>
  <dcterms:created xsi:type="dcterms:W3CDTF">2013-01-27T09:14:16Z</dcterms:created>
  <dcterms:modified xsi:type="dcterms:W3CDTF">2026-02-14T14:11:54Z</dcterms:modified>
  <cp:category/>
</cp:coreProperties>
</file>